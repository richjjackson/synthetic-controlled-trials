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64008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Simulation study: data-generating process, sampling and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530352"/>
            <a:ext cx="11676888" cy="2560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D6D7E"/>
                </a:solidFill>
                <a:latin typeface="Calibri"/>
              </a:rPr>
              <a:t>18 scenarios  =  3 overlap levels  ×  3 sample sizes  ×  2 trial designs     ·     1,000 replicates     ·     true log HR = log(0.70)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877824"/>
            <a:ext cx="3803904" cy="32918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1. Data-generating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87952" y="877824"/>
            <a:ext cx="3803904" cy="329184"/>
          </a:xfrm>
          <a:prstGeom prst="rect">
            <a:avLst/>
          </a:prstGeom>
          <a:solidFill>
            <a:srgbClr val="1D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2. Sampling (each replicate)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8174736" y="877824"/>
            <a:ext cx="3803904" cy="329184"/>
          </a:xfrm>
          <a:prstGeom prst="rect">
            <a:avLst/>
          </a:prstGeom>
          <a:solidFill>
            <a:srgbClr val="6C3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3. Analysis 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1298448"/>
            <a:ext cx="3803904" cy="658368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 w="1143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C2833"/>
                </a:solidFill>
                <a:latin typeface="Calibri"/>
              </a:rPr>
              <a:t>Covariates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X1, X2 ~ Normal    ·    X3, X4, X5 ~ Bernoulli</a:t>
            </a:r>
          </a:p>
        </p:txBody>
      </p:sp>
      <p:sp>
        <p:nvSpPr>
          <p:cNvPr id="9" name="Down Arrow 8"/>
          <p:cNvSpPr/>
          <p:nvPr/>
        </p:nvSpPr>
        <p:spPr>
          <a:xfrm>
            <a:off x="2002536" y="1975104"/>
            <a:ext cx="201168" cy="128016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168" y="2121408"/>
            <a:ext cx="3803904" cy="1298448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 w="11430">
            <a:solidFill>
              <a:srgbClr val="5D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C2833"/>
                </a:solidFill>
                <a:latin typeface="Calibri"/>
              </a:rPr>
              <a:t>Four super-populations (n = 5,000 each)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External control: untreated; large-overlap margins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Trial (no overlap): shifted means / probabilities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Trial (moderate): halfway covariate shift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Trial (large overlap): same margins as control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002536" y="3438144"/>
            <a:ext cx="201168" cy="128016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1168" y="3584448"/>
            <a:ext cx="3803904" cy="1170432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1430">
            <a:solidFill>
              <a:srgbClr val="B777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C2833"/>
                </a:solidFill>
                <a:latin typeface="Calibri"/>
              </a:rPr>
              <a:t>Exponential proportional hazards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λ = exp(γ0 + γ1X1 + … + γ5X5 + β·trt)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β = log(0.70) in the trial population only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Random censoring (rate 0.02); trial also administratively censored at 6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" y="4864608"/>
            <a:ext cx="1207008" cy="1353312"/>
          </a:xfrm>
          <a:prstGeom prst="roundRect">
            <a:avLst>
              <a:gd name="adj" fmla="val 8000"/>
            </a:avLst>
          </a:prstGeom>
          <a:solidFill>
            <a:srgbClr val="FBEEEC"/>
          </a:solidFill>
          <a:ln w="11430">
            <a:solidFill>
              <a:srgbClr val="A93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A93226"/>
                </a:solidFill>
                <a:latin typeface="Calibri"/>
              </a:rPr>
              <a:t>No overlap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X1 ~ N(1.5, 1)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X2 ~ N(0.5, 1)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X3 ~ Bern(0.60)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X4 ~ Bern(0.70)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X5 ~ Bern(0.80)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99616" y="4864608"/>
            <a:ext cx="1207008" cy="1353312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1430">
            <a:solidFill>
              <a:srgbClr val="B777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B7770D"/>
                </a:solidFill>
                <a:latin typeface="Calibri"/>
              </a:rPr>
              <a:t>Moderate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X1 ~ N(0.75, 1)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X2 ~ N(0.25, 1)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X3 ~ Bern(0.45)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X4 ~ Bern(0.55)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X5 ~ Bern(0.65)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8064" y="4864608"/>
            <a:ext cx="1207008" cy="1353312"/>
          </a:xfrm>
          <a:prstGeom prst="roundRect">
            <a:avLst>
              <a:gd name="adj" fmla="val 8000"/>
            </a:avLst>
          </a:prstGeom>
          <a:solidFill>
            <a:srgbClr val="E8F8F0"/>
          </a:solidFill>
          <a:ln w="11430">
            <a:solidFill>
              <a:srgbClr val="1D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D7A46"/>
                </a:solidFill>
                <a:latin typeface="Calibri"/>
              </a:rPr>
              <a:t>Large overlap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X1 ~ N(0, 1)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X2 ~ N(0, 1)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X3 ~ Bern(0.30)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X4 ~ Bern(0.40)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C2833"/>
                </a:solidFill>
                <a:latin typeface="Calibri"/>
              </a:rPr>
              <a:t>X5 ~ Bern(0.50)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87952" y="1298448"/>
            <a:ext cx="3803904" cy="1078992"/>
          </a:xfrm>
          <a:prstGeom prst="roundRect">
            <a:avLst>
              <a:gd name="adj" fmla="val 8000"/>
            </a:avLst>
          </a:prstGeom>
          <a:solidFill>
            <a:srgbClr val="E8F8F0"/>
          </a:solidFill>
          <a:ln w="11430">
            <a:solidFill>
              <a:srgbClr val="1D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C2833"/>
                </a:solidFill>
                <a:latin typeface="Calibri"/>
              </a:rPr>
              <a:t>From the control super-population</a:t>
            </a:r>
          </a:p>
          <a:p>
            <a:pPr algn="ctr">
              <a:spcBef>
                <a:spcPts val="30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Sample n_cont historical controls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Small 300   ·   Medium 400   ·   Large 500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D6D7E"/>
                </a:solidFill>
                <a:latin typeface="Calibri"/>
              </a:rPr>
              <a:t>without replacement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89320" y="2395728"/>
            <a:ext cx="201168" cy="128016"/>
          </a:xfrm>
          <a:prstGeom prst="downArrow">
            <a:avLst/>
          </a:prstGeom>
          <a:solidFill>
            <a:srgbClr val="1D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87952" y="2542032"/>
            <a:ext cx="3803904" cy="1078992"/>
          </a:xfrm>
          <a:prstGeom prst="roundRect">
            <a:avLst>
              <a:gd name="adj" fmla="val 8000"/>
            </a:avLst>
          </a:prstGeom>
          <a:solidFill>
            <a:srgbClr val="E8F8F0"/>
          </a:solidFill>
          <a:ln w="11430">
            <a:solidFill>
              <a:srgbClr val="1D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C2833"/>
                </a:solidFill>
                <a:latin typeface="Calibri"/>
              </a:rPr>
              <a:t>From the chosen trial super-population</a:t>
            </a:r>
          </a:p>
          <a:p>
            <a:pPr algn="ctr">
              <a:spcBef>
                <a:spcPts val="30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Sample n_trt prospective patients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Small 50   ·   Medium 75   ·   Large 100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D6D7E"/>
                </a:solidFill>
                <a:latin typeface="Calibri"/>
              </a:rPr>
              <a:t>without replacement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89320" y="3639312"/>
            <a:ext cx="201168" cy="128016"/>
          </a:xfrm>
          <a:prstGeom prst="downArrow">
            <a:avLst/>
          </a:prstGeom>
          <a:solidFill>
            <a:srgbClr val="1D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87952" y="3803904"/>
            <a:ext cx="1828800" cy="2414016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 w="1143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Fully synthetic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2E86AB"/>
                </a:solidFill>
                <a:latin typeface="Calibri"/>
              </a:rPr>
              <a:t>single-arm design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All n_trt receive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experimental treatment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C2833"/>
                </a:solidFill>
                <a:latin typeface="Calibri"/>
              </a:rPr>
              <a:t>Concurrent controls: 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Historical controls: n_cont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803904"/>
            <a:ext cx="1828800" cy="2414016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1430">
            <a:solidFill>
              <a:srgbClr val="B777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B7770D"/>
                </a:solidFill>
                <a:latin typeface="Calibri"/>
              </a:rPr>
              <a:t>Partially synthetic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B7770D"/>
                </a:solidFill>
                <a:latin typeface="Calibri"/>
              </a:rPr>
              <a:t>hybrid design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n_trt randomised 1:1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experimental vs control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C2833"/>
                </a:solidFill>
                <a:latin typeface="Calibri"/>
              </a:rPr>
              <a:t>Concurrent controls: n_trt/2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Historical controls: n_cont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4736" y="1298448"/>
            <a:ext cx="3803904" cy="658368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143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C348D"/>
                </a:solidFill>
                <a:latin typeface="Calibri"/>
              </a:rPr>
              <a:t>Counterfactual model (CFM)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flexsurvspline, 3 knots, fitted to historical controls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covariates X1–X5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9976104" y="1975104"/>
            <a:ext cx="201168" cy="128016"/>
          </a:xfrm>
          <a:prstGeom prst="downArrow">
            <a:avLst/>
          </a:prstGeom>
          <a:solidFill>
            <a:srgbClr val="6C3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74736" y="2121408"/>
            <a:ext cx="1828800" cy="4096512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 w="1143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Single-arm methods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C2833"/>
                </a:solidFill>
                <a:latin typeface="Calibri"/>
              </a:rPr>
              <a:t>Pooled Cox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unadjusted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C2833"/>
                </a:solidFill>
                <a:latin typeface="Calibri"/>
              </a:rPr>
              <a:t>Personalised SC (PSC)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full CFM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C2833"/>
                </a:solidFill>
                <a:latin typeface="Calibri"/>
              </a:rPr>
              <a:t>Population SC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entropy balance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C2833"/>
                </a:solidFill>
                <a:latin typeface="Calibri"/>
              </a:rPr>
              <a:t>Bayesian historical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informative prior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case-weighted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2121408"/>
            <a:ext cx="1828800" cy="4096512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1430">
            <a:solidFill>
              <a:srgbClr val="B777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B7770D"/>
                </a:solidFill>
                <a:latin typeface="Calibri"/>
              </a:rPr>
              <a:t>Hybrid methods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C2833"/>
                </a:solidFill>
                <a:latin typeface="Calibri"/>
              </a:rPr>
              <a:t>RCT only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unadjusted Cox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C2833"/>
                </a:solidFill>
                <a:latin typeface="Calibri"/>
              </a:rPr>
              <a:t>Pooled Cox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unadjusted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C2833"/>
                </a:solidFill>
                <a:latin typeface="Calibri"/>
              </a:rPr>
              <a:t>PSC (combined)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full CFM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C2833"/>
                </a:solidFill>
                <a:latin typeface="Calibri"/>
              </a:rPr>
              <a:t>Population SC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entropy balance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C2833"/>
                </a:solidFill>
                <a:latin typeface="Calibri"/>
              </a:rPr>
              <a:t>Bayesian borrowing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vague prior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informative prior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commensurate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C2833"/>
                </a:solidFill>
                <a:latin typeface="Calibri"/>
              </a:rPr>
              <a:t>case-weighted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41648" y="877824"/>
            <a:ext cx="13716" cy="5340096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431" y="877824"/>
            <a:ext cx="13716" cy="5340096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